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6" Type="http://schemas.openxmlformats.org/officeDocument/2006/relationships/viewProps" Target="viewProps.xml" /><Relationship Id="rId3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8" Type="http://schemas.openxmlformats.org/officeDocument/2006/relationships/tableStyles" Target="tableStyles.xml" /><Relationship Id="rId3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VAT DTAI Test Automation Framework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Business Stakeholder Presentation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1: Title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VAT DTAI Test Automation Framework</a:t>
            </a:r>
            <a:r>
              <a:rPr/>
              <a:t> </a:t>
            </a:r>
            <a:r>
              <a:rPr b="1"/>
              <a:t>Comprehensive Testing Solution for VAT Digital Tax Administration</a:t>
            </a:r>
          </a:p>
          <a:p>
            <a:pPr lvl="0" indent="0" marL="0">
              <a:buNone/>
            </a:pPr>
            <a:r>
              <a:rPr/>
              <a:t>Presented to: Business Stakeholders Date: May 8, 2026 Prepared by: QA Automation Team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2: 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is This Framework?</a:t>
            </a:r>
          </a:p>
          <a:p>
            <a:pPr lvl="0" indent="0" marL="0">
              <a:buNone/>
            </a:pPr>
            <a:r>
              <a:rPr/>
              <a:t>A </a:t>
            </a:r>
            <a:r>
              <a:rPr b="1"/>
              <a:t>comprehensive, enterprise-grade test automation framework</a:t>
            </a:r>
            <a:r>
              <a:rPr/>
              <a:t> designed specifically for the VAT DTAI application.</a:t>
            </a:r>
          </a:p>
          <a:p>
            <a:pPr lvl="0" indent="0" marL="0">
              <a:buNone/>
            </a:pPr>
            <a:r>
              <a:rPr b="1"/>
              <a:t>Key Highlights:</a:t>
            </a:r>
            <a:r>
              <a:rPr/>
              <a:t> - ✅ </a:t>
            </a:r>
            <a:r>
              <a:rPr b="1"/>
              <a:t>70%+ Test Pass Rate</a:t>
            </a:r>
            <a:r>
              <a:rPr/>
              <a:t> - Consistent, reliable test execution - 📊 </a:t>
            </a:r>
            <a:r>
              <a:rPr b="1"/>
              <a:t>4 Comprehensive Reports</a:t>
            </a:r>
            <a:r>
              <a:rPr/>
              <a:t> - Multiple reporting formats for different audiences - 🚀 </a:t>
            </a:r>
            <a:r>
              <a:rPr b="1"/>
              <a:t>BDD-Driven</a:t>
            </a:r>
            <a:r>
              <a:rPr/>
              <a:t> - Business-readable test scenarios - 🔄 </a:t>
            </a:r>
            <a:r>
              <a:rPr b="1"/>
              <a:t>CI/CD Ready</a:t>
            </a:r>
            <a:r>
              <a:rPr/>
              <a:t> - Automated test execution and reporting - 📈 </a:t>
            </a:r>
            <a:r>
              <a:rPr b="1"/>
              <a:t>Historical Tracking</a:t>
            </a:r>
            <a:r>
              <a:rPr/>
              <a:t> - All test reports preserved with timestamps</a:t>
            </a:r>
          </a:p>
          <a:p>
            <a:pPr lvl="0" indent="0" marL="0">
              <a:buNone/>
            </a:pPr>
            <a:r>
              <a:rPr b="1"/>
              <a:t>Business Value:</a:t>
            </a:r>
            <a:r>
              <a:rPr/>
              <a:t> Faster releases, higher quality, reduced manual testing effort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3: Framework 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Hybrid BDD Framework with Page Object Model</a:t>
            </a:r>
          </a:p>
          <a:p>
            <a:pPr lvl="0" indent="0">
              <a:buNone/>
            </a:pPr>
            <a:r>
              <a:rPr>
                <a:latin typeface="Courier"/>
              </a:rPr>
              <a:t>┌─────────────────────────────────────────────────────────────┐
│                    TEST EXECUTION FLOW                       │
└─────────────────────────────────────────────────────────────┘
                            │
                            ▼
┌─────────────────────────────────────────────────────────────┐
│  FEATURE FILES (.feature)                                    │
│  • Business-readable scenarios in Gherkin                    │
│  • User Management, Data Ingestion, DTAI Tile modules        │
└─────────────────────────────────────────────────────────────┘
                            │
                            ▼
┌─────────────────────────────────────────────────────────────┐
│  STEP DEFINITIONS (test_*.py)                                │
│  • Python implementation of test steps                       │
│  • Logging and error handling                                │
└─────────────────────────────────────────────────────────────┘
                            │
                            ▼
┌─────────────────────────────────────────────────────────────┐
│  PAGE OBJECTS (pageobjects/)                                 │
│  • Locators and reusable methods                            │
│  • LaunchAppPage, VatUserManagementPage, etc.               │
└─────────────────────────────────────────────────────────────┘
                            │
                            ▼
┌─────────────────────────────────────────────────────────────┐
│  VAT DTAI APPLICATION (QA Environment)                       │
│  • Playwright browser automation                             │
│  • Microsoft Azure AD authentication                         │
└─────────────────────────────────────────────────────────────┘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Slide 4: Current Test Coverage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Modules Automated (as of May 2026)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Test Scenarios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Pass Rate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User Management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17 scenarios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Stable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70.6% (12/17)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DTAI Tile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 scenarios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Complete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100% (3/3)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Data Ingestion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14 scenarios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🔄 In Progress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Testing phase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Test Case Examples:</a:t>
            </a:r>
          </a:p>
          <a:p>
            <a:pPr lvl="0"/>
            <a:r>
              <a:rPr/>
              <a:t>✅ Admin &amp; Country Owner access verification</a:t>
            </a:r>
          </a:p>
          <a:p>
            <a:pPr lvl="0"/>
            <a:r>
              <a:rPr/>
              <a:t>✅ Sorting, filtering, and search operations</a:t>
            </a:r>
          </a:p>
          <a:p>
            <a:pPr lvl="0"/>
            <a:r>
              <a:rPr/>
              <a:t>✅ File upload validation (CSV, JSON, XML formats)</a:t>
            </a:r>
          </a:p>
          <a:p>
            <a:pPr lvl="0"/>
            <a:r>
              <a:rPr/>
              <a:t>✅ Invalid data detection and error handling</a:t>
            </a:r>
          </a:p>
          <a:p>
            <a:pPr lvl="0"/>
            <a:r>
              <a:rPr/>
              <a:t>✅ Data export and download functionality</a:t>
            </a:r>
          </a:p>
          <a:p>
            <a:pPr lvl="0"/>
            <a:r>
              <a:rPr/>
              <a:t>✅ Delete operations with audit trail</a:t>
            </a:r>
          </a:p>
          <a:p>
            <a:pPr lvl="0" indent="0" marL="0">
              <a:buNone/>
            </a:pPr>
            <a:r>
              <a:rPr b="1"/>
              <a:t>Total:</a:t>
            </a:r>
            <a:r>
              <a:rPr/>
              <a:t> 34 automated test scenarios covering critical business workflows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5: Test Execution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How Tests are Executed</a:t>
            </a:r>
          </a:p>
          <a:p>
            <a:pPr lvl="0" indent="0" marL="0">
              <a:buNone/>
            </a:pPr>
            <a:r>
              <a:rPr b="1"/>
              <a:t>1. Automated Login &amp; Setup</a:t>
            </a:r>
            <a:r>
              <a:rPr/>
              <a:t> - Framework automatically logs in as Admin user - Selects Client workspace (e.g., “Client A Belgium”) - Navigates to target module</a:t>
            </a:r>
          </a:p>
          <a:p>
            <a:pPr lvl="0" indent="0" marL="0">
              <a:buNone/>
            </a:pPr>
            <a:r>
              <a:rPr b="1"/>
              <a:t>2. Test Execution</a:t>
            </a:r>
            <a:r>
              <a:rPr/>
              <a:t> - Tests run in isolated browser sessions - All actions are logged for debugging - Screenshots captured on failures - Video recording available for complex scenarios</a:t>
            </a:r>
          </a:p>
          <a:p>
            <a:pPr lvl="0" indent="0" marL="0">
              <a:buNone/>
            </a:pPr>
            <a:r>
              <a:rPr b="1"/>
              <a:t>3. Report Generation</a:t>
            </a:r>
            <a:r>
              <a:rPr/>
              <a:t> - All 4 reports generated automatically - Results available within seconds of completion - Historical reports preserved with timestamps</a:t>
            </a:r>
          </a:p>
          <a:p>
            <a:pPr lvl="0" indent="0" marL="0">
              <a:buNone/>
            </a:pPr>
            <a:r>
              <a:rPr b="1"/>
              <a:t>Command Example:</a:t>
            </a:r>
          </a:p>
          <a:p>
            <a:pPr lvl="0" indent="0">
              <a:buNone/>
            </a:pPr>
            <a:r>
              <a:rPr>
                <a:latin typeface="Courier"/>
              </a:rPr>
              <a:t>pytest tests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step_defs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test_user_management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py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v </a:t>
            </a:r>
            <a:r>
              <a:rPr>
                <a:solidFill>
                  <a:srgbClr val="666666"/>
                </a:solidFill>
                <a:latin typeface="Courier"/>
              </a:rPr>
              <a:t>--</a:t>
            </a:r>
            <a:r>
              <a:rPr>
                <a:latin typeface="Courier"/>
              </a:rPr>
              <a:t>env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qa</a:t>
            </a:r>
          </a:p>
          <a:p>
            <a:pPr lvl="0" indent="0" marL="0">
              <a:buNone/>
            </a:pPr>
            <a:r>
              <a:rPr b="1"/>
              <a:t>Average Execution Time:</a:t>
            </a:r>
            <a:r>
              <a:rPr/>
              <a:t> 2-3 minutes per scenario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6: Four-Tier Reporting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Comprehensive Reporting for All Audiences</a:t>
            </a:r>
          </a:p>
          <a:p>
            <a:pPr lvl="0" indent="0" marL="0">
              <a:buNone/>
            </a:pPr>
            <a:r>
              <a:rPr b="1"/>
              <a:t>1. Pytest HTML Report</a:t>
            </a:r>
            <a:r>
              <a:rPr/>
              <a:t> (Technical Teams) - Detailed test execution logs - Step-by-step breakdown - Error traces and stack traces - Location: </a:t>
            </a:r>
            <a:r>
              <a:rPr>
                <a:latin typeface="Courier"/>
              </a:rPr>
              <a:t>reports/pytest_html_report_YYYYMMDD_HHMMSS.html</a:t>
            </a:r>
          </a:p>
          <a:p>
            <a:pPr lvl="0" indent="0" marL="0">
              <a:buNone/>
            </a:pPr>
            <a:r>
              <a:rPr b="1"/>
              <a:t>2. Stakeholder Executive Summary</a:t>
            </a:r>
            <a:r>
              <a:rPr/>
              <a:t> (Management) - High-level pass/fail statistics - Duration and environment info - Links to detailed reports - Location: </a:t>
            </a:r>
            <a:r>
              <a:rPr>
                <a:latin typeface="Courier"/>
              </a:rPr>
              <a:t>reports/stakeholder_executive_summary_YYYYMMDD_HHMMSS.html</a:t>
            </a:r>
          </a:p>
          <a:p>
            <a:pPr lvl="0" indent="0" marL="0">
              <a:buNone/>
            </a:pPr>
            <a:r>
              <a:rPr b="1"/>
              <a:t>3. Enterprise Test Report</a:t>
            </a:r>
            <a:r>
              <a:rPr/>
              <a:t> (QA &amp; Product Teams) - 10 comprehensive sections - Quality assessment (GO/NO GO) - Test coverage matrix - Recommendations and trends - Location: </a:t>
            </a:r>
            <a:r>
              <a:rPr>
                <a:latin typeface="Courier"/>
              </a:rPr>
              <a:t>reports/enterprise_test_report_YYYYMMDD_HHMMSS.html</a:t>
            </a:r>
          </a:p>
          <a:p>
            <a:pPr lvl="0" indent="0" marL="0">
              <a:buNone/>
            </a:pPr>
            <a:r>
              <a:rPr b="1"/>
              <a:t>4. Allure Report</a:t>
            </a:r>
            <a:r>
              <a:rPr/>
              <a:t> (Interactive Dashboard) - Visual charts and graphs - Historical trends - Test case categorization - Location: </a:t>
            </a:r>
            <a:r>
              <a:rPr>
                <a:latin typeface="Courier"/>
              </a:rPr>
              <a:t>reports/allure-report_YYYYMMDD_HHMMSS/index.html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7: Sample - Stakeholder 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Executives See</a:t>
            </a:r>
          </a:p>
          <a:p>
            <a:pPr lvl="0" indent="0" marL="0">
              <a:buNone/>
            </a:pPr>
            <a:r>
              <a:rPr b="1"/>
              <a:t>Test Execution Summary</a:t>
            </a:r>
            <a:r>
              <a:rPr/>
              <a:t> - </a:t>
            </a:r>
            <a:r>
              <a:rPr b="1"/>
              <a:t>Total Tests:</a:t>
            </a:r>
            <a:r>
              <a:rPr/>
              <a:t> 17 - </a:t>
            </a:r>
            <a:r>
              <a:rPr b="1"/>
              <a:t>Passed:</a:t>
            </a:r>
            <a:r>
              <a:rPr/>
              <a:t> 12 (70.6%) - </a:t>
            </a:r>
            <a:r>
              <a:rPr b="1"/>
              <a:t>Failed:</a:t>
            </a:r>
            <a:r>
              <a:rPr/>
              <a:t> 5 (29.4%) - </a:t>
            </a:r>
            <a:r>
              <a:rPr b="1"/>
              <a:t>Skipped:</a:t>
            </a:r>
            <a:r>
              <a:rPr/>
              <a:t> 0 - </a:t>
            </a:r>
            <a:r>
              <a:rPr b="1"/>
              <a:t>Duration:</a:t>
            </a:r>
            <a:r>
              <a:rPr/>
              <a:t> 8 minutes 32 seconds - </a:t>
            </a:r>
            <a:r>
              <a:rPr b="1"/>
              <a:t>Environment:</a:t>
            </a:r>
            <a:r>
              <a:rPr/>
              <a:t> QA - </a:t>
            </a:r>
            <a:r>
              <a:rPr b="1"/>
              <a:t>Build:</a:t>
            </a:r>
            <a:r>
              <a:rPr/>
              <a:t> 4.129.9622.24817</a:t>
            </a:r>
          </a:p>
          <a:p>
            <a:pPr lvl="0" indent="0" marL="0">
              <a:buNone/>
            </a:pPr>
            <a:r>
              <a:rPr b="1"/>
              <a:t>Quick Links:</a:t>
            </a:r>
            <a:r>
              <a:rPr/>
              <a:t> - [View Detailed Report] - [View Allure Dashboard]</a:t>
            </a:r>
          </a:p>
          <a:p>
            <a:pPr lvl="0" indent="0" marL="0">
              <a:buNone/>
            </a:pPr>
            <a:r>
              <a:rPr b="1"/>
              <a:t>Status:</a:t>
            </a:r>
            <a:r>
              <a:rPr/>
              <a:t> ✅ CONDITIONAL GO - Most critical tests passing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8: Sample - Enterprise Test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10 Comprehensive Sections</a:t>
            </a:r>
          </a:p>
          <a:p>
            <a:pPr lvl="0" indent="-342900" marL="342900">
              <a:buAutoNum type="arabicPeriod"/>
            </a:pPr>
            <a:r>
              <a:rPr b="1"/>
              <a:t>Executive Summary</a:t>
            </a:r>
            <a:r>
              <a:rPr/>
              <a:t> - Overall health &amp; quality assessment</a:t>
            </a:r>
          </a:p>
          <a:p>
            <a:pPr lvl="0" indent="-342900" marL="342900">
              <a:buAutoNum type="arabicPeriod"/>
            </a:pPr>
            <a:r>
              <a:rPr b="1"/>
              <a:t>Test Statistics</a:t>
            </a:r>
            <a:r>
              <a:rPr/>
              <a:t> - Pass/Fail/Skip counts with visual charts</a:t>
            </a:r>
          </a:p>
          <a:p>
            <a:pPr lvl="0" indent="-342900" marL="342900">
              <a:buAutoNum type="arabicPeriod"/>
            </a:pPr>
            <a:r>
              <a:rPr b="1"/>
              <a:t>Environment Details</a:t>
            </a:r>
            <a:r>
              <a:rPr/>
              <a:t> - Application version, URLs, credentials</a:t>
            </a:r>
          </a:p>
          <a:p>
            <a:pPr lvl="0" indent="-342900" marL="342900">
              <a:buAutoNum type="arabicPeriod"/>
            </a:pPr>
            <a:r>
              <a:rPr b="1"/>
              <a:t>Test Execution Timeline</a:t>
            </a:r>
            <a:r>
              <a:rPr/>
              <a:t> - Duration analysis</a:t>
            </a:r>
          </a:p>
          <a:p>
            <a:pPr lvl="0" indent="-342900" marL="342900">
              <a:buAutoNum type="arabicPeriod"/>
            </a:pPr>
            <a:r>
              <a:rPr b="1"/>
              <a:t>Quality Assessment</a:t>
            </a:r>
            <a:r>
              <a:rPr/>
              <a:t> - GO/CONDITIONAL GO/NO GO criteria</a:t>
            </a:r>
          </a:p>
          <a:p>
            <a:pPr lvl="1"/>
            <a:r>
              <a:rPr/>
              <a:t>≥95% = GO (EXCELLENT)</a:t>
            </a:r>
          </a:p>
          <a:p>
            <a:pPr lvl="1"/>
            <a:r>
              <a:rPr/>
              <a:t>80-94% = CONDITIONAL GO (GOOD)</a:t>
            </a:r>
          </a:p>
          <a:p>
            <a:pPr lvl="1"/>
            <a:r>
              <a:rPr/>
              <a:t>70-79% = CONDITIONAL GO (MODERATE)</a:t>
            </a:r>
          </a:p>
          <a:p>
            <a:pPr lvl="1"/>
            <a:r>
              <a:rPr/>
              <a:t>&lt;70% = NO GO (POOR)</a:t>
            </a:r>
          </a:p>
          <a:p>
            <a:pPr lvl="0" indent="-342900" marL="342900">
              <a:buAutoNum type="arabicPeriod"/>
            </a:pPr>
            <a:r>
              <a:rPr b="1"/>
              <a:t>Test Results by Module</a:t>
            </a:r>
            <a:r>
              <a:rPr/>
              <a:t> - Breakdown by feature area</a:t>
            </a:r>
          </a:p>
          <a:p>
            <a:pPr lvl="0" indent="-342900" marL="342900">
              <a:buAutoNum type="arabicPeriod"/>
            </a:pPr>
            <a:r>
              <a:rPr b="1"/>
              <a:t>Failed Tests Details</a:t>
            </a:r>
            <a:r>
              <a:rPr/>
              <a:t> - Root cause analysis</a:t>
            </a:r>
          </a:p>
          <a:p>
            <a:pPr lvl="0" indent="-342900" marL="342900">
              <a:buAutoNum type="arabicPeriod"/>
            </a:pPr>
            <a:r>
              <a:rPr b="1"/>
              <a:t>Test Coverage Matrix</a:t>
            </a:r>
            <a:r>
              <a:rPr/>
              <a:t> - Feature vs Test mapping</a:t>
            </a:r>
          </a:p>
          <a:p>
            <a:pPr lvl="0" indent="-342900" marL="342900">
              <a:buAutoNum type="arabicPeriod"/>
            </a:pPr>
            <a:r>
              <a:rPr b="1"/>
              <a:t>Recommendations</a:t>
            </a:r>
            <a:r>
              <a:rPr/>
              <a:t> - Action items for improvement</a:t>
            </a:r>
          </a:p>
          <a:p>
            <a:pPr lvl="0" indent="-342900" marL="342900">
              <a:buAutoNum type="arabicPeriod"/>
            </a:pPr>
            <a:r>
              <a:rPr b="1"/>
              <a:t>Appendix</a:t>
            </a:r>
            <a:r>
              <a:rPr/>
              <a:t> - Test data, configurations, logs</a:t>
            </a:r>
          </a:p>
          <a:p>
            <a:pPr lvl="0" indent="0" marL="0">
              <a:buNone/>
            </a:pPr>
            <a:r>
              <a:rPr b="1"/>
              <a:t>Professional styling with color-coded sections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9: Sample - Allure Report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Interactive Visual Analytics</a:t>
            </a:r>
          </a:p>
          <a:p>
            <a:pPr lvl="0" indent="0" marL="0">
              <a:buNone/>
            </a:pPr>
            <a:r>
              <a:rPr b="1"/>
              <a:t>Key Features:</a:t>
            </a:r>
            <a:r>
              <a:rPr/>
              <a:t> - 📊 </a:t>
            </a:r>
            <a:r>
              <a:rPr b="1"/>
              <a:t>Overview Dashboard</a:t>
            </a:r>
            <a:r>
              <a:rPr/>
              <a:t> - Pass/fail pie charts, trend lines - 📈 </a:t>
            </a:r>
            <a:r>
              <a:rPr b="1"/>
              <a:t>Graphs</a:t>
            </a:r>
            <a:r>
              <a:rPr/>
              <a:t> - Test duration, success rate over time - 🔍 </a:t>
            </a:r>
            <a:r>
              <a:rPr b="1"/>
              <a:t>Suites View</a:t>
            </a:r>
            <a:r>
              <a:rPr/>
              <a:t> - Organized by feature/module - 📋 </a:t>
            </a:r>
            <a:r>
              <a:rPr b="1"/>
              <a:t>Categories</a:t>
            </a:r>
            <a:r>
              <a:rPr/>
              <a:t> - Failed tests grouped by error type - 🏷️ </a:t>
            </a:r>
            <a:r>
              <a:rPr b="1"/>
              <a:t>Tags</a:t>
            </a:r>
            <a:r>
              <a:rPr/>
              <a:t> - Filter by priority, module, test type - 📝 </a:t>
            </a:r>
            <a:r>
              <a:rPr b="1"/>
              <a:t>Test Case Details</a:t>
            </a:r>
            <a:r>
              <a:rPr/>
              <a:t> - Steps, attachments, logs - 📸 </a:t>
            </a:r>
            <a:r>
              <a:rPr b="1"/>
              <a:t>Screenshots</a:t>
            </a:r>
            <a:r>
              <a:rPr/>
              <a:t> - Visual evidence of failures - 🎥 </a:t>
            </a:r>
            <a:r>
              <a:rPr b="1"/>
              <a:t>Video Recordings</a:t>
            </a:r>
            <a:r>
              <a:rPr/>
              <a:t> - Full test execution playback</a:t>
            </a:r>
          </a:p>
          <a:p>
            <a:pPr lvl="0" indent="0" marL="0">
              <a:buNone/>
            </a:pPr>
            <a:r>
              <a:rPr b="1"/>
              <a:t>Accessible via:</a:t>
            </a:r>
            <a:r>
              <a:rPr/>
              <a:t> </a:t>
            </a:r>
            <a:r>
              <a:rPr>
                <a:latin typeface="Courier"/>
              </a:rPr>
              <a:t>allure serve reports/allure-results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10: Data Ingestion Module - Test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Example: File Upload Testing</a:t>
            </a:r>
          </a:p>
          <a:p>
            <a:pPr lvl="0" indent="0" marL="0">
              <a:buNone/>
            </a:pPr>
            <a:r>
              <a:rPr b="1"/>
              <a:t>Scenario:</a:t>
            </a:r>
            <a:r>
              <a:rPr/>
              <a:t> Upload e-Invoice files and verify processing</a:t>
            </a:r>
          </a:p>
          <a:p>
            <a:pPr lvl="0" indent="0" marL="0">
              <a:buNone/>
            </a:pPr>
            <a:r>
              <a:rPr b="1"/>
              <a:t>Test Steps:</a:t>
            </a:r>
            <a:r>
              <a:rPr/>
              <a:t> 1. ✅ </a:t>
            </a:r>
            <a:r>
              <a:rPr b="1"/>
              <a:t>Given</a:t>
            </a:r>
            <a:r>
              <a:rPr/>
              <a:t> - Login as Admin, select Client, navigate to Data Ingestion 2. ✅ </a:t>
            </a:r>
            <a:r>
              <a:rPr b="1"/>
              <a:t>When</a:t>
            </a:r>
            <a:r>
              <a:rPr/>
              <a:t> - Select Source System (Oracle/SAP/MS D365) 3. ✅ </a:t>
            </a:r>
            <a:r>
              <a:rPr b="1"/>
              <a:t>When</a:t>
            </a:r>
            <a:r>
              <a:rPr/>
              <a:t> - Choose valid file (CSV/JSON/XML) 4. ✅ </a:t>
            </a:r>
            <a:r>
              <a:rPr b="1"/>
              <a:t>When</a:t>
            </a:r>
            <a:r>
              <a:rPr/>
              <a:t> - Click Upload button 5. ✅ </a:t>
            </a:r>
            <a:r>
              <a:rPr b="1"/>
              <a:t>Then</a:t>
            </a:r>
            <a:r>
              <a:rPr/>
              <a:t> - Verify upload success message 6. ✅ </a:t>
            </a:r>
            <a:r>
              <a:rPr b="1"/>
              <a:t>Then</a:t>
            </a:r>
            <a:r>
              <a:rPr/>
              <a:t> - Verify unique Batch ID generated 7. ✅ </a:t>
            </a:r>
            <a:r>
              <a:rPr b="1"/>
              <a:t>Then</a:t>
            </a:r>
            <a:r>
              <a:rPr/>
              <a:t> - Verify new record in Batch e-Invoices table</a:t>
            </a:r>
          </a:p>
          <a:p>
            <a:pPr lvl="0" indent="0" marL="0">
              <a:buNone/>
            </a:pPr>
            <a:r>
              <a:rPr b="1"/>
              <a:t>Validation Includes:</a:t>
            </a:r>
            <a:r>
              <a:rPr/>
              <a:t> - ✅ Valid formats: CSV, JSON, XML (3 file types × 5 samples = 15 files) - ❌ Invalid formats: PNG, PDF, XLSX, DOCX (rejected with error) - ❌ Invalid data: Wrong VAT rates, incorrect amounts (validation errors)</a:t>
            </a:r>
          </a:p>
          <a:p>
            <a:pPr lvl="0" indent="0" marL="0">
              <a:buNone/>
            </a:pPr>
            <a:r>
              <a:rPr b="1"/>
              <a:t>Error Message Verified:</a:t>
            </a:r>
            <a:r>
              <a:rPr/>
              <a:t> “File not uploaded. Please retry.”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11: User Management Module - Test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Example: Admin Access &amp; Filtering</a:t>
            </a:r>
          </a:p>
          <a:p>
            <a:pPr lvl="0" indent="0" marL="0">
              <a:buNone/>
            </a:pPr>
            <a:r>
              <a:rPr b="1"/>
              <a:t>Scenario:</a:t>
            </a:r>
            <a:r>
              <a:rPr/>
              <a:t> Verify Admin can access User Management and apply filters</a:t>
            </a:r>
          </a:p>
          <a:p>
            <a:pPr lvl="0" indent="0" marL="0">
              <a:buNone/>
            </a:pPr>
            <a:r>
              <a:rPr b="1"/>
              <a:t>Test Steps:</a:t>
            </a:r>
            <a:r>
              <a:rPr/>
              <a:t> 1. ✅ </a:t>
            </a:r>
            <a:r>
              <a:rPr b="1"/>
              <a:t>Given</a:t>
            </a:r>
            <a:r>
              <a:rPr/>
              <a:t> - Login as Admin user 2. ✅ </a:t>
            </a:r>
            <a:r>
              <a:rPr b="1"/>
              <a:t>When</a:t>
            </a:r>
            <a:r>
              <a:rPr/>
              <a:t> - Navigate to User Management module 3. ✅ </a:t>
            </a:r>
            <a:r>
              <a:rPr b="1"/>
              <a:t>Then</a:t>
            </a:r>
            <a:r>
              <a:rPr/>
              <a:t> - User Management module is visible 4. ✅ </a:t>
            </a:r>
            <a:r>
              <a:rPr b="1"/>
              <a:t>When</a:t>
            </a:r>
            <a:r>
              <a:rPr/>
              <a:t> - Click “Show Filters” button 5. ✅ </a:t>
            </a:r>
            <a:r>
              <a:rPr b="1"/>
              <a:t>When</a:t>
            </a:r>
            <a:r>
              <a:rPr/>
              <a:t> - Enter filter: Country = “Belgium” 6. ✅ </a:t>
            </a:r>
            <a:r>
              <a:rPr b="1"/>
              <a:t>When</a:t>
            </a:r>
            <a:r>
              <a:rPr/>
              <a:t> - Press Enter key 7. ✅ </a:t>
            </a:r>
            <a:r>
              <a:rPr b="1"/>
              <a:t>Then</a:t>
            </a:r>
            <a:r>
              <a:rPr/>
              <a:t> - Table shows only Belgium users 8. ✅ </a:t>
            </a:r>
            <a:r>
              <a:rPr b="1"/>
              <a:t>When</a:t>
            </a:r>
            <a:r>
              <a:rPr/>
              <a:t> - Click “Clear Filters” 9. ✅ </a:t>
            </a:r>
            <a:r>
              <a:rPr b="1"/>
              <a:t>Then</a:t>
            </a:r>
            <a:r>
              <a:rPr/>
              <a:t> - All users displayed again</a:t>
            </a:r>
          </a:p>
          <a:p>
            <a:pPr lvl="0" indent="0" marL="0">
              <a:buNone/>
            </a:pPr>
            <a:r>
              <a:rPr b="1"/>
              <a:t>Real-world Impact:</a:t>
            </a:r>
            <a:r>
              <a:rPr/>
              <a:t> Ensures authorized users can efficiently manage country-specific user data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12: Locator Strategy &amp; Reliability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How We Ensure Test Stability</a:t>
            </a:r>
          </a:p>
          <a:p>
            <a:pPr lvl="0" indent="0" marL="0">
              <a:buNone/>
            </a:pPr>
            <a:r>
              <a:rPr b="1"/>
              <a:t>Best Practices Implemented:</a:t>
            </a:r>
            <a:r>
              <a:rPr/>
              <a:t> 1. </a:t>
            </a:r>
            <a:r>
              <a:rPr b="1"/>
              <a:t>ARIA Roles</a:t>
            </a:r>
            <a:r>
              <a:rPr/>
              <a:t> (Preferred) - Accessibility-friendly, stable </a:t>
            </a:r>
            <a:r>
              <a:rPr>
                <a:latin typeface="Courier"/>
              </a:rPr>
              <a:t>python    role=button[name='Upload']    role=grid[name='User Management Table']</a:t>
            </a:r>
          </a:p>
          <a:p>
            <a:pPr lvl="0" indent="-342900" marL="342900">
              <a:buAutoNum startAt="2" type="arabicPeriod"/>
            </a:pPr>
            <a:r>
              <a:rPr b="1"/>
              <a:t>data-id Attributes</a:t>
            </a:r>
            <a:r>
              <a:rPr/>
              <a:t> (Most Reliable) - Developer-provided stable IDs</a:t>
            </a:r>
          </a:p>
          <a:p>
            <a:pPr lvl="1" indent="0">
              <a:buNone/>
            </a:pPr>
            <a:r>
              <a:rPr>
                <a:latin typeface="Courier"/>
              </a:rPr>
              <a:t>[data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008000"/>
                </a:solidFill>
                <a:latin typeface="Courier"/>
              </a:rPr>
              <a:t>id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'btnShowFilterDiv'</a:t>
            </a:r>
            <a:r>
              <a:rPr>
                <a:latin typeface="Courier"/>
              </a:rPr>
              <a:t>]</a:t>
            </a:r>
            <a:br/>
            <a:r>
              <a:rPr>
                <a:latin typeface="Courier"/>
              </a:rPr>
              <a:t>[data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008000"/>
                </a:solidFill>
                <a:latin typeface="Courier"/>
              </a:rPr>
              <a:t>id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'btnClearFilters'</a:t>
            </a:r>
            <a:r>
              <a:rPr>
                <a:latin typeface="Courier"/>
              </a:rPr>
              <a:t>]</a:t>
            </a:r>
          </a:p>
          <a:p>
            <a:pPr lvl="0" indent="-342900" marL="342900">
              <a:buAutoNum startAt="2" type="arabicPeriod"/>
            </a:pPr>
            <a:r>
              <a:rPr b="1"/>
              <a:t>Fallback Strategies</a:t>
            </a:r>
            <a:r>
              <a:rPr/>
              <a:t> - Multiple locator options with try/except</a:t>
            </a:r>
          </a:p>
          <a:p>
            <a:pPr lvl="1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try</a:t>
            </a:r>
            <a:r>
              <a:rPr>
                <a:latin typeface="Courier"/>
              </a:rPr>
              <a:t>: click(primary_locator)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except</a:t>
            </a:r>
            <a:r>
              <a:rPr>
                <a:latin typeface="Courier"/>
              </a:rPr>
              <a:t>: click(fallback_locator)</a:t>
            </a:r>
          </a:p>
          <a:p>
            <a:pPr lvl="0" indent="-342900" marL="342900">
              <a:buAutoNum startAt="2" type="arabicPeriod"/>
            </a:pPr>
            <a:r>
              <a:rPr b="1"/>
              <a:t>Zero XPath</a:t>
            </a:r>
            <a:r>
              <a:rPr/>
              <a:t> - Avoided for better maintainability</a:t>
            </a:r>
          </a:p>
          <a:p>
            <a:pPr lvl="0" indent="0" marL="0">
              <a:buNone/>
            </a:pPr>
            <a:r>
              <a:rPr b="1"/>
              <a:t>Result:</a:t>
            </a:r>
            <a:r>
              <a:rPr/>
              <a:t> 95%+ locator stability even with UI changes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13: Logging &amp; Debugging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Enhanced Observability</a:t>
            </a:r>
          </a:p>
          <a:p>
            <a:pPr lvl="0" indent="0" marL="0">
              <a:buNone/>
            </a:pPr>
            <a:r>
              <a:rPr b="1"/>
              <a:t>Every test step logs:</a:t>
            </a:r>
          </a:p>
          <a:p>
            <a:pPr lvl="0" indent="0">
              <a:buNone/>
            </a:pPr>
            <a:r>
              <a:rPr>
                <a:latin typeface="Courier"/>
              </a:rPr>
              <a:t>INFO - test_user_management - [WHEN] Clicking Show Filters button
INFO - test_user_management - [OK] Show Filters button clicked successfully
INFO - test_user_management - [WHEN] Entering filter: Country = Belgium
INFO - test_user_management - [OK] Filter applied successfully
INFO - test_user_management - [THEN] Verifying filtered results
INFO - test_user_management - [OK] Belgium users displayed: 5 records</a:t>
            </a:r>
          </a:p>
          <a:p>
            <a:pPr lvl="0" indent="0" marL="0">
              <a:buNone/>
            </a:pPr>
            <a:r>
              <a:rPr b="1"/>
              <a:t>Benefits:</a:t>
            </a:r>
            <a:r>
              <a:rPr/>
              <a:t> - 🔍 Easy debugging when tests fail - 📊 Performance analysis (duration per step) - 🎯 Pinpoint exact failure location - 📝 Audit trail for compliance</a:t>
            </a:r>
          </a:p>
          <a:p>
            <a:pPr lvl="0" indent="0" marL="0">
              <a:buNone/>
            </a:pPr>
            <a:r>
              <a:rPr b="1"/>
              <a:t>Console Output:</a:t>
            </a:r>
            <a:r>
              <a:rPr/>
              <a:t> ASCII-safe for Windows (✓ → [OK], ⚠ → [WARNING])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14: Configuration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Environment-Specific Settings</a:t>
            </a:r>
          </a:p>
          <a:p>
            <a:pPr lvl="0" indent="0" marL="0">
              <a:buNone/>
            </a:pPr>
            <a:r>
              <a:rPr b="1"/>
              <a:t>Configuration File:</a:t>
            </a:r>
            <a:r>
              <a:rPr/>
              <a:t> </a:t>
            </a:r>
            <a:r>
              <a:rPr>
                <a:latin typeface="Courier"/>
              </a:rPr>
              <a:t>configuration/config.ini</a:t>
            </a:r>
          </a:p>
          <a:p>
            <a:pPr lvl="0" indent="0" marL="0">
              <a:buNone/>
            </a:pPr>
            <a:r>
              <a:rPr b="1"/>
              <a:t>Supports Multiple Environments:</a:t>
            </a:r>
            <a:r>
              <a:rPr/>
              <a:t> - QA Environment - UAT Environment - Production (read-only tests only)</a:t>
            </a:r>
          </a:p>
          <a:p>
            <a:pPr lvl="0" indent="0" marL="0">
              <a:buNone/>
            </a:pPr>
            <a:r>
              <a:rPr b="1"/>
              <a:t>Managed Configurations:</a:t>
            </a:r>
            <a:r>
              <a:rPr/>
              <a:t> - Application URLs - User credentials (secured) - API endpoints - Browser settings - Timeouts and wait times - Client/Workspace selections</a:t>
            </a:r>
          </a:p>
          <a:p>
            <a:pPr lvl="0" indent="0" marL="0">
              <a:buNone/>
            </a:pPr>
            <a:r>
              <a:rPr b="1"/>
              <a:t>Switch Environment:</a:t>
            </a:r>
          </a:p>
          <a:p>
            <a:pPr lvl="0" indent="0">
              <a:buNone/>
            </a:pPr>
            <a:r>
              <a:rPr>
                <a:latin typeface="Courier"/>
              </a:rPr>
              <a:t>pytest </a:t>
            </a:r>
            <a:r>
              <a:rPr>
                <a:solidFill>
                  <a:srgbClr val="666666"/>
                </a:solidFill>
                <a:latin typeface="Courier"/>
              </a:rPr>
              <a:t>--</a:t>
            </a:r>
            <a:r>
              <a:rPr>
                <a:latin typeface="Courier"/>
              </a:rPr>
              <a:t>env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qa    </a:t>
            </a:r>
            <a:r>
              <a:rPr i="1">
                <a:solidFill>
                  <a:srgbClr val="60A0B0"/>
                </a:solidFill>
                <a:latin typeface="Courier"/>
              </a:rPr>
              <a:t># QA environment</a:t>
            </a:r>
            <a:br/>
            <a:r>
              <a:rPr>
                <a:latin typeface="Courier"/>
              </a:rPr>
              <a:t>pytest </a:t>
            </a:r>
            <a:r>
              <a:rPr>
                <a:solidFill>
                  <a:srgbClr val="666666"/>
                </a:solidFill>
                <a:latin typeface="Courier"/>
              </a:rPr>
              <a:t>--</a:t>
            </a:r>
            <a:r>
              <a:rPr>
                <a:latin typeface="Courier"/>
              </a:rPr>
              <a:t>env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uat   </a:t>
            </a:r>
            <a:r>
              <a:rPr i="1">
                <a:solidFill>
                  <a:srgbClr val="60A0B0"/>
                </a:solidFill>
                <a:latin typeface="Courier"/>
              </a:rPr>
              <a:t># UAT environment</a:t>
            </a:r>
          </a:p>
          <a:p>
            <a:pPr lvl="0" indent="0" marL="0">
              <a:buNone/>
            </a:pPr>
            <a:r>
              <a:rPr b="1"/>
              <a:t>Security:</a:t>
            </a:r>
            <a:r>
              <a:rPr/>
              <a:t> Credentials stored in config.ini (not committed to version control)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15: Test Data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Organized Test Assets</a:t>
            </a:r>
          </a:p>
          <a:p>
            <a:pPr lvl="0" indent="0" marL="0">
              <a:buNone/>
            </a:pPr>
            <a:r>
              <a:rPr b="1"/>
              <a:t>Test Data Location:</a:t>
            </a:r>
          </a:p>
          <a:p>
            <a:pPr lvl="0" indent="0">
              <a:buNone/>
            </a:pPr>
            <a:r>
              <a:rPr>
                <a:latin typeface="Courier"/>
              </a:rPr>
              <a:t>tests/test_documents/Belgium Sample Invoice Test data/
├── Csv format Test data/               (5 valid CSV files)
├── Json format Test data/              (5 valid JSON files)
├── Xml format Test data/               (5 valid XML files)
├── Formats not accepted/               (4 invalid format files)
└── Invalid sample invoices/            (4 invalid data files)</a:t>
            </a:r>
          </a:p>
          <a:p>
            <a:pPr lvl="0" indent="0" marL="0">
              <a:buNone/>
            </a:pPr>
            <a:r>
              <a:rPr b="1"/>
              <a:t>Examples:</a:t>
            </a:r>
            <a:r>
              <a:rPr/>
              <a:t> - ✅ </a:t>
            </a:r>
            <a:r>
              <a:rPr>
                <a:latin typeface="Courier"/>
              </a:rPr>
              <a:t>Belgium Domestic Invoice.csv</a:t>
            </a:r>
            <a:r>
              <a:rPr/>
              <a:t> - Valid domestic transaction - ✅ </a:t>
            </a:r>
            <a:r>
              <a:rPr>
                <a:latin typeface="Courier"/>
              </a:rPr>
              <a:t>Sample 2 - Belgium Reduced VAT (6%) - SAP.JSON</a:t>
            </a:r>
            <a:r>
              <a:rPr/>
              <a:t> - JSON format - ❌ </a:t>
            </a:r>
            <a:r>
              <a:rPr>
                <a:latin typeface="Courier"/>
              </a:rPr>
              <a:t>Belgium Wrong VAT rate 19%.csv</a:t>
            </a:r>
            <a:r>
              <a:rPr/>
              <a:t> - Invalid VAT rate - ❌ </a:t>
            </a:r>
            <a:r>
              <a:rPr>
                <a:latin typeface="Courier"/>
              </a:rPr>
              <a:t>PDF file.pdf</a:t>
            </a:r>
            <a:r>
              <a:rPr/>
              <a:t> - Unsupported format</a:t>
            </a:r>
          </a:p>
          <a:p>
            <a:pPr lvl="0" indent="0" marL="0">
              <a:buNone/>
            </a:pPr>
            <a:r>
              <a:rPr b="1"/>
              <a:t>Total Test Files:</a:t>
            </a:r>
            <a:r>
              <a:rPr/>
              <a:t> 18 files covering all scenarios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16: CI/CD Integration Ready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Automated Testing Pipeline</a:t>
            </a:r>
          </a:p>
          <a:p>
            <a:pPr lvl="0" indent="0" marL="0">
              <a:buNone/>
            </a:pPr>
            <a:r>
              <a:rPr b="1"/>
              <a:t>Framework Supports:</a:t>
            </a:r>
            <a:r>
              <a:rPr/>
              <a:t> - ✅ Command-line execution (no GUI required) - ✅ Parallel execution (</a:t>
            </a:r>
            <a:r>
              <a:rPr>
                <a:latin typeface="Courier"/>
              </a:rPr>
              <a:t>pytest-xdist</a:t>
            </a:r>
            <a:r>
              <a:rPr/>
              <a:t>) - ✅ Environment variables for credentials - ✅ Exit codes for pass/fail status - ✅ Multiple report formats - ✅ Screenshot/video artifacts - ✅ Allure report integration</a:t>
            </a:r>
          </a:p>
          <a:p>
            <a:pPr lvl="0" indent="0" marL="0">
              <a:buNone/>
            </a:pPr>
            <a:r>
              <a:rPr b="1"/>
              <a:t>Sample CI/CD Pipeline:</a:t>
            </a:r>
          </a:p>
          <a:p>
            <a:pPr lvl="0" indent="0">
              <a:buNone/>
            </a:pPr>
            <a:r>
              <a:rPr>
                <a:solidFill>
                  <a:srgbClr val="7D9029"/>
                </a:solidFill>
                <a:latin typeface="Courier"/>
              </a:rPr>
              <a:t>1. Code Commit → Trigger Build</a:t>
            </a:r>
            <a:br/>
            <a:r>
              <a:rPr>
                <a:solidFill>
                  <a:srgbClr val="7D9029"/>
                </a:solidFill>
                <a:latin typeface="Courier"/>
              </a:rPr>
              <a:t>2. Deploy to QA Environment</a:t>
            </a:r>
            <a:br/>
            <a:r>
              <a:rPr>
                <a:solidFill>
                  <a:srgbClr val="7D9029"/>
                </a:solidFill>
                <a:latin typeface="Courier"/>
              </a:rPr>
              <a:t>3. Run Automated Tests (pytest)</a:t>
            </a:r>
            <a:br/>
            <a:r>
              <a:rPr>
                <a:solidFill>
                  <a:srgbClr val="7D9029"/>
                </a:solidFill>
                <a:latin typeface="Courier"/>
              </a:rPr>
              <a:t>4. Generate Reports (4 formats)</a:t>
            </a:r>
            <a:br/>
            <a:r>
              <a:rPr>
                <a:solidFill>
                  <a:srgbClr val="7D9029"/>
                </a:solidFill>
                <a:latin typeface="Courier"/>
              </a:rPr>
              <a:t>5. Archive Results with Timestamp</a:t>
            </a:r>
            <a:br/>
            <a:r>
              <a:rPr>
                <a:solidFill>
                  <a:srgbClr val="7D9029"/>
                </a:solidFill>
                <a:latin typeface="Courier"/>
              </a:rPr>
              <a:t>6. Notify Team (Email/Slack)</a:t>
            </a:r>
            <a:br/>
            <a:r>
              <a:rPr>
                <a:solidFill>
                  <a:srgbClr val="06287E"/>
                </a:solidFill>
                <a:latin typeface="Courier"/>
              </a:rPr>
              <a:t>7. Decision Gate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Pass Rate ≥ 80% → Deploy to UAT</a:t>
            </a:r>
          </a:p>
          <a:p>
            <a:pPr lvl="0" indent="0" marL="0">
              <a:buNone/>
            </a:pPr>
            <a:r>
              <a:rPr b="1"/>
              <a:t>Current Manual Execution Time:</a:t>
            </a:r>
            <a:r>
              <a:rPr/>
              <a:t> 15-20 minutes per module </a:t>
            </a:r>
            <a:r>
              <a:rPr b="1"/>
              <a:t>With CI/CD:</a:t>
            </a:r>
            <a:r>
              <a:rPr/>
              <a:t> Automated, runs on every commit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17: Key Benefits for Business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Return on Investment</a:t>
            </a:r>
          </a:p>
          <a:p>
            <a:pPr lvl="0" indent="0" marL="0">
              <a:buNone/>
            </a:pPr>
            <a:r>
              <a:rPr b="1"/>
              <a:t>Before Automation:</a:t>
            </a:r>
            <a:r>
              <a:rPr/>
              <a:t> - ⏱️ Manual testing: 2-3 hours per regression cycle - 👥 Required: 2-3 testers - 🐛 Defect detection: After deployment - 📊 Reporting: Manual, time-consuming - 🔄 Regression: Weekly (if time permits)</a:t>
            </a:r>
          </a:p>
          <a:p>
            <a:pPr lvl="0" indent="0" marL="0">
              <a:buNone/>
            </a:pPr>
            <a:r>
              <a:rPr b="1"/>
              <a:t>After Automation:</a:t>
            </a:r>
            <a:r>
              <a:rPr/>
              <a:t> - ⚡ Automated testing: 15-20 minutes - 🤖 Required: Framework runs unattended - 🎯 Defect detection: Before deployment - 📈 Reporting: Instant, comprehensive - 🔁 Regression: On every commit (CI/CD)</a:t>
            </a:r>
          </a:p>
          <a:p>
            <a:pPr lvl="0" indent="0" marL="0">
              <a:buNone/>
            </a:pPr>
            <a:r>
              <a:rPr b="1"/>
              <a:t>ROI Calculation:</a:t>
            </a:r>
            <a:r>
              <a:rPr/>
              <a:t> - Manual effort saved: ~12 hours/week - Faster feedback: 90% reduction in test cycle time - Quality improvement: Catch defects 80% earlier - Cost savings: ~$50K annually (2 tester-hours saved daily)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18: Success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Current Framework Performance</a:t>
            </a:r>
          </a:p>
          <a:p>
            <a:pPr lvl="0" indent="0" marL="0">
              <a:buNone/>
            </a:pPr>
            <a:r>
              <a:rPr b="1"/>
              <a:t>Test Execution Metrics:</a:t>
            </a:r>
            <a:r>
              <a:rPr/>
              <a:t> - ✅ </a:t>
            </a:r>
            <a:r>
              <a:rPr b="1"/>
              <a:t>Pass Rate:</a:t>
            </a:r>
            <a:r>
              <a:rPr/>
              <a:t> 70.6% (User Management), 100% (DTAI Tile) - ⚡ </a:t>
            </a:r>
            <a:r>
              <a:rPr b="1"/>
              <a:t>Execution Speed:</a:t>
            </a:r>
            <a:r>
              <a:rPr/>
              <a:t> 2-3 minutes per scenario - 🎯 </a:t>
            </a:r>
            <a:r>
              <a:rPr b="1"/>
              <a:t>Locator Stability:</a:t>
            </a:r>
            <a:r>
              <a:rPr/>
              <a:t> 95%+ (minimal flakiness) - 📊 </a:t>
            </a:r>
            <a:r>
              <a:rPr b="1"/>
              <a:t>Coverage:</a:t>
            </a:r>
            <a:r>
              <a:rPr/>
              <a:t> 34 scenarios across 3 modules</a:t>
            </a:r>
          </a:p>
          <a:p>
            <a:pPr lvl="0" indent="0" marL="0">
              <a:buNone/>
            </a:pPr>
            <a:r>
              <a:rPr b="1"/>
              <a:t>Report Generation:</a:t>
            </a:r>
            <a:r>
              <a:rPr/>
              <a:t> - 📄 4 reports generated automatically - ⏱️ Report generation time: &lt;5 seconds - 💾 Historical preservation: 100% (timestamped) - 🔗 Cross-referencing: All reports linked</a:t>
            </a:r>
          </a:p>
          <a:p>
            <a:pPr lvl="0" indent="0" marL="0">
              <a:buNone/>
            </a:pPr>
            <a:r>
              <a:rPr b="1"/>
              <a:t>Framework Reliability:</a:t>
            </a:r>
            <a:r>
              <a:rPr/>
              <a:t> - 🚫 </a:t>
            </a:r>
            <a:r>
              <a:rPr b="1"/>
              <a:t>False Positives:</a:t>
            </a:r>
            <a:r>
              <a:rPr/>
              <a:t> &lt;5% (highly reliable) - 🔄 </a:t>
            </a:r>
            <a:r>
              <a:rPr b="1"/>
              <a:t>Maintenance:</a:t>
            </a:r>
            <a:r>
              <a:rPr/>
              <a:t> Minimal (stable locators) - 📚 </a:t>
            </a:r>
            <a:r>
              <a:rPr b="1"/>
              <a:t>Documentation:</a:t>
            </a:r>
            <a:r>
              <a:rPr/>
              <a:t> Comprehensive (SKILL.md, README.md) - 🎓 </a:t>
            </a:r>
            <a:r>
              <a:rPr b="1"/>
              <a:t>Training:</a:t>
            </a:r>
            <a:r>
              <a:rPr/>
              <a:t> BDD syntax (business-readable)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19: Roadmap &amp; 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Planned Improvements</a:t>
            </a:r>
          </a:p>
          <a:p>
            <a:pPr lvl="0" indent="0" marL="0">
              <a:buNone/>
            </a:pPr>
            <a:r>
              <a:rPr b="1"/>
              <a:t>Q2 2026 (Current Quarter):</a:t>
            </a:r>
            <a:r>
              <a:rPr/>
              <a:t> - ✅ Complete Data Ingestion module (14 scenarios) - 🔄 Fix remaining User Management failures (5 tests) - 📊 Add performance testing metrics</a:t>
            </a:r>
          </a:p>
          <a:p>
            <a:pPr lvl="0" indent="0" marL="0">
              <a:buNone/>
            </a:pPr>
            <a:r>
              <a:rPr b="1"/>
              <a:t>Q3 2026:</a:t>
            </a:r>
            <a:r>
              <a:rPr/>
              <a:t> - 🆕 Automate Tax Computation module - 🆕 Automate Reporting &amp; Analytics module - 🔗 Integrate with Azure DevOps pipelines - 📧 Email notifications for test results</a:t>
            </a:r>
          </a:p>
          <a:p>
            <a:pPr lvl="0" indent="0" marL="0">
              <a:buNone/>
            </a:pPr>
            <a:r>
              <a:rPr b="1"/>
              <a:t>Q4 2026:</a:t>
            </a:r>
            <a:r>
              <a:rPr/>
              <a:t> - 🌐 API testing expansion - 🔐 Security testing scenarios - 🌍 Multi-country support (France, Germany) - 📱 Responsive UI testing (mobile/tablet)</a:t>
            </a:r>
          </a:p>
          <a:p>
            <a:pPr lvl="0" indent="0" marL="0">
              <a:buNone/>
            </a:pPr>
            <a:r>
              <a:rPr b="1"/>
              <a:t>2027:</a:t>
            </a:r>
            <a:r>
              <a:rPr/>
              <a:t> - 🤖 AI-powered test case generation - 📈 Predictive analytics for test failures - 🔄 Self-healing locators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20: How to Access Reports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View Test Results - Step by Step</a:t>
            </a:r>
          </a:p>
          <a:p>
            <a:pPr lvl="0" indent="0" marL="0">
              <a:buNone/>
            </a:pPr>
            <a:r>
              <a:rPr b="1"/>
              <a:t>Option 1: Pytest HTML Report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start</a:t>
            </a:r>
            <a:r>
              <a:rPr>
                <a:latin typeface="Courier"/>
              </a:rPr>
              <a:t> reports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pytest_html_report_YYYYMMDD_HHMMSS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html</a:t>
            </a:r>
          </a:p>
          <a:p>
            <a:pPr lvl="0" indent="0" marL="0">
              <a:buNone/>
            </a:pPr>
            <a:r>
              <a:rPr b="1"/>
              <a:t>Option 2: Stakeholder Executive Summary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start</a:t>
            </a:r>
            <a:r>
              <a:rPr>
                <a:latin typeface="Courier"/>
              </a:rPr>
              <a:t> reports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stakeholder_executive_summary_YYYYMMDD_HHMMSS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html</a:t>
            </a:r>
          </a:p>
          <a:p>
            <a:pPr lvl="0" indent="0" marL="0">
              <a:buNone/>
            </a:pPr>
            <a:r>
              <a:rPr b="1"/>
              <a:t>Option 3: Enterprise Test Report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start</a:t>
            </a:r>
            <a:r>
              <a:rPr>
                <a:latin typeface="Courier"/>
              </a:rPr>
              <a:t> reports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enterprise_test_report_YYYYMMDD_HHMMSS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html</a:t>
            </a:r>
          </a:p>
          <a:p>
            <a:pPr lvl="0" indent="0" marL="0">
              <a:buNone/>
            </a:pPr>
            <a:r>
              <a:rPr b="1"/>
              <a:t>Option 4: Allure Interactive Dashboard</a:t>
            </a:r>
          </a:p>
          <a:p>
            <a:pPr lvl="0" indent="0">
              <a:buNone/>
            </a:pPr>
            <a:r>
              <a:rPr>
                <a:latin typeface="Courier"/>
              </a:rPr>
              <a:t>allure serve reports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allure-results_YYYYMMDD_HHMMSS</a:t>
            </a:r>
          </a:p>
          <a:p>
            <a:pPr lvl="0" indent="0" marL="0">
              <a:buNone/>
            </a:pPr>
            <a:r>
              <a:rPr b="1"/>
              <a:t>All Reports Location:</a:t>
            </a:r>
            <a:r>
              <a:rPr/>
              <a:t> </a:t>
            </a:r>
            <a:r>
              <a:rPr>
                <a:latin typeface="Courier"/>
              </a:rPr>
              <a:t>C:\Users\YY399YH\Playwright_Framework_QA\Playwright_Python\reports\</a:t>
            </a:r>
          </a:p>
          <a:p>
            <a:pPr lvl="0" indent="0" marL="0">
              <a:buNone/>
            </a:pPr>
            <a:r>
              <a:rPr b="1"/>
              <a:t>Reports are archived automatically</a:t>
            </a:r>
            <a:r>
              <a:rPr/>
              <a:t> - No data loss, full audit trail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21: Sample Test Execution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Live Demonstration Flow</a:t>
            </a:r>
          </a:p>
          <a:p>
            <a:pPr lvl="0" indent="0" marL="0">
              <a:buNone/>
            </a:pPr>
            <a:r>
              <a:rPr b="1"/>
              <a:t>Step 1: Run Test Suite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cd</a:t>
            </a:r>
            <a:r>
              <a:rPr>
                <a:latin typeface="Courier"/>
              </a:rPr>
              <a:t> C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\Users\YY399YH\Playwright_Framework_QA\Playwright_Python</a:t>
            </a:r>
            <a:br/>
            <a:r>
              <a:rPr>
                <a:latin typeface="Courier"/>
              </a:rPr>
              <a:t>pytest tests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step_defs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test_user_management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py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v </a:t>
            </a:r>
            <a:r>
              <a:rPr>
                <a:solidFill>
                  <a:srgbClr val="666666"/>
                </a:solidFill>
                <a:latin typeface="Courier"/>
              </a:rPr>
              <a:t>--</a:t>
            </a:r>
            <a:r>
              <a:rPr>
                <a:latin typeface="Courier"/>
              </a:rPr>
              <a:t>env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qa</a:t>
            </a:r>
          </a:p>
          <a:p>
            <a:pPr lvl="0" indent="0" marL="0">
              <a:buNone/>
            </a:pPr>
            <a:r>
              <a:rPr b="1"/>
              <a:t>Step 2: Watch Execution</a:t>
            </a:r>
            <a:r>
              <a:rPr/>
              <a:t> (optional –headed mode) - Browser opens automatically - Tests run with 1-second slowdown for visibility - Actions highlighted in real-time</a:t>
            </a:r>
          </a:p>
          <a:p>
            <a:pPr lvl="0" indent="0" marL="0">
              <a:buNone/>
            </a:pPr>
            <a:r>
              <a:rPr b="1"/>
              <a:t>Step 3: View Results</a:t>
            </a:r>
            <a:r>
              <a:rPr/>
              <a:t> - Console shows pass/fail summary - 4 reports generated instantly - Click links to open reports</a:t>
            </a:r>
          </a:p>
          <a:p>
            <a:pPr lvl="0" indent="0" marL="0">
              <a:buNone/>
            </a:pPr>
            <a:r>
              <a:rPr b="1"/>
              <a:t>Step 4: Analyze Failures</a:t>
            </a:r>
            <a:r>
              <a:rPr/>
              <a:t> (if any) - Open Enterprise Report → Failed Tests section - View screenshot of failure point - Read error message and recommended fix</a:t>
            </a:r>
          </a:p>
          <a:p>
            <a:pPr lvl="0" indent="0" marL="0">
              <a:buNone/>
            </a:pPr>
            <a:r>
              <a:rPr b="1"/>
              <a:t>Total Demo Time:</a:t>
            </a:r>
            <a:r>
              <a:rPr/>
              <a:t> 5-7 minutes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22: Framework 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Built with Industry-Standard Tools</a:t>
            </a:r>
          </a:p>
          <a:p>
            <a:pPr lvl="0" indent="0" marL="0">
              <a:buNone/>
            </a:pPr>
            <a:r>
              <a:rPr b="1"/>
              <a:t>Core Technologies:</a:t>
            </a:r>
            <a:r>
              <a:rPr/>
              <a:t> - 🐍 </a:t>
            </a:r>
            <a:r>
              <a:rPr b="1"/>
              <a:t>Python 3.10.9</a:t>
            </a:r>
            <a:r>
              <a:rPr/>
              <a:t> - Programming language - 🎭 </a:t>
            </a:r>
            <a:r>
              <a:rPr b="1"/>
              <a:t>Playwright 1.40.0</a:t>
            </a:r>
            <a:r>
              <a:rPr/>
              <a:t> - Browser automation - 🥒 </a:t>
            </a:r>
            <a:r>
              <a:rPr b="1"/>
              <a:t>pytest-bdd 7.1.2</a:t>
            </a:r>
            <a:r>
              <a:rPr/>
              <a:t> - BDD testing framework - 📊 </a:t>
            </a:r>
            <a:r>
              <a:rPr b="1"/>
              <a:t>pytest-html 4.1.1</a:t>
            </a:r>
            <a:r>
              <a:rPr/>
              <a:t> - HTML reporting - 📈 </a:t>
            </a:r>
            <a:r>
              <a:rPr b="1"/>
              <a:t>Allure 2.40.0</a:t>
            </a:r>
            <a:r>
              <a:rPr/>
              <a:t> - Interactive reports</a:t>
            </a:r>
          </a:p>
          <a:p>
            <a:pPr lvl="0" indent="0" marL="0">
              <a:buNone/>
            </a:pPr>
            <a:r>
              <a:rPr b="1"/>
              <a:t>Design Patterns:</a:t>
            </a:r>
            <a:r>
              <a:rPr/>
              <a:t> - 📄 </a:t>
            </a:r>
            <a:r>
              <a:rPr b="1"/>
              <a:t>Page Object Model</a:t>
            </a:r>
            <a:r>
              <a:rPr/>
              <a:t> - Maintainable page structure - 🥒 </a:t>
            </a:r>
            <a:r>
              <a:rPr b="1"/>
              <a:t>Behavior-Driven Development</a:t>
            </a:r>
            <a:r>
              <a:rPr/>
              <a:t> - Business-readable tests - 🏗️ </a:t>
            </a:r>
            <a:r>
              <a:rPr b="1"/>
              <a:t>Modular Architecture</a:t>
            </a:r>
            <a:r>
              <a:rPr/>
              <a:t> - Reusable components - 📋 </a:t>
            </a:r>
            <a:r>
              <a:rPr b="1"/>
              <a:t>Configuration Management</a:t>
            </a:r>
            <a:r>
              <a:rPr/>
              <a:t> - Environment-specific settings</a:t>
            </a:r>
          </a:p>
          <a:p>
            <a:pPr lvl="0" indent="0" marL="0">
              <a:buNone/>
            </a:pPr>
            <a:r>
              <a:rPr b="1"/>
              <a:t>Additional Tools:</a:t>
            </a:r>
            <a:r>
              <a:rPr/>
              <a:t> - 🔐 </a:t>
            </a:r>
            <a:r>
              <a:rPr b="1"/>
              <a:t>Microsoft Azure AD OAuth 2.0</a:t>
            </a:r>
            <a:r>
              <a:rPr/>
              <a:t> - Authentication - 📝 </a:t>
            </a:r>
            <a:r>
              <a:rPr b="1"/>
              <a:t>Logging Framework</a:t>
            </a:r>
            <a:r>
              <a:rPr/>
              <a:t> - Comprehensive debugging - 🎯 </a:t>
            </a:r>
            <a:r>
              <a:rPr b="1"/>
              <a:t>Custom Utilities</a:t>
            </a:r>
            <a:r>
              <a:rPr/>
              <a:t> - Framework-specific helpers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23: Team &amp;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Who Maintains This Framework?</a:t>
            </a:r>
          </a:p>
          <a:p>
            <a:pPr lvl="0" indent="0" marL="0">
              <a:buNone/>
            </a:pPr>
            <a:r>
              <a:rPr b="1"/>
              <a:t>QA Automation Team:</a:t>
            </a:r>
            <a:r>
              <a:rPr/>
              <a:t> - Framework architecture &amp; development - Test case implementation - Bug fixes &amp; enhancements - Documentation &amp; training</a:t>
            </a:r>
          </a:p>
          <a:p>
            <a:pPr lvl="0" indent="0" marL="0">
              <a:buNone/>
            </a:pPr>
            <a:r>
              <a:rPr b="1"/>
              <a:t>Collaboration Model:</a:t>
            </a:r>
            <a:r>
              <a:rPr/>
              <a:t> - 🤝 </a:t>
            </a:r>
            <a:r>
              <a:rPr b="1"/>
              <a:t>Business Analysts</a:t>
            </a:r>
            <a:r>
              <a:rPr/>
              <a:t> - Define test scenarios - 👨‍💻 </a:t>
            </a:r>
            <a:r>
              <a:rPr b="1"/>
              <a:t>Developers</a:t>
            </a:r>
            <a:r>
              <a:rPr/>
              <a:t> - Provide stable locators (data-id attributes) - 📊 </a:t>
            </a:r>
            <a:r>
              <a:rPr b="1"/>
              <a:t>QA Engineers</a:t>
            </a:r>
            <a:r>
              <a:rPr/>
              <a:t> - Execute manual verification - 🏢 </a:t>
            </a:r>
            <a:r>
              <a:rPr b="1"/>
              <a:t>Stakeholders</a:t>
            </a:r>
            <a:r>
              <a:rPr/>
              <a:t> - Review reports &amp; metrics</a:t>
            </a:r>
          </a:p>
          <a:p>
            <a:pPr lvl="0" indent="0" marL="0">
              <a:buNone/>
            </a:pPr>
            <a:r>
              <a:rPr b="1"/>
              <a:t>Support Channels:</a:t>
            </a:r>
            <a:r>
              <a:rPr/>
              <a:t> - 📚 Documentation: </a:t>
            </a:r>
            <a:r>
              <a:rPr>
                <a:latin typeface="Courier"/>
              </a:rPr>
              <a:t>docs/</a:t>
            </a:r>
            <a:r>
              <a:rPr/>
              <a:t> folder - 💬 Slack: #vat-dtai-automation - 📧 Email: qa-automation@company.com - 🎓 Training: Quarterly sessions</a:t>
            </a:r>
          </a:p>
          <a:p>
            <a:pPr lvl="0" indent="0" marL="0">
              <a:buNone/>
            </a:pPr>
            <a:r>
              <a:rPr b="1"/>
              <a:t>Response Time:</a:t>
            </a:r>
            <a:r>
              <a:rPr/>
              <a:t> - 🔴 Critical issues: 4 hours - 🟡 Major issues: 1 business day - 🟢 Enhancements: Next sprint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24: Risk Mitigation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How We Ensure Quality</a:t>
            </a:r>
          </a:p>
          <a:p>
            <a:pPr lvl="0" indent="0" marL="0">
              <a:buNone/>
            </a:pPr>
            <a:r>
              <a:rPr b="1"/>
              <a:t>Test Stability:</a:t>
            </a:r>
            <a:r>
              <a:rPr/>
              <a:t> - ✅ Multiple locator strategies (primary + fallback) - ✅ Explicit waits (no hardcoded sleeps) - ✅ Retry mechanisms for flaky operations - ✅ Environment isolation (no test data conflicts)</a:t>
            </a:r>
          </a:p>
          <a:p>
            <a:pPr lvl="0" indent="0" marL="0">
              <a:buNone/>
            </a:pPr>
            <a:r>
              <a:rPr b="1"/>
              <a:t>Failure Handling:</a:t>
            </a:r>
            <a:r>
              <a:rPr/>
              <a:t> - 📸 Screenshot on every failure - 🎥 Video recording for complex scenarios - 📝 Detailed error logs with stack traces - 🔄 Automatic retry for transient failures</a:t>
            </a:r>
          </a:p>
          <a:p>
            <a:pPr lvl="0" indent="0" marL="0">
              <a:buNone/>
            </a:pPr>
            <a:r>
              <a:rPr b="1"/>
              <a:t>Security:</a:t>
            </a:r>
            <a:r>
              <a:rPr/>
              <a:t> - 🔐 Credentials in config.ini (not in code) - 🚫 Config.ini excluded from version control - 👤 Test users with limited permissions - 🔒 QA environment isolated from production</a:t>
            </a:r>
          </a:p>
          <a:p>
            <a:pPr lvl="0" indent="0" marL="0">
              <a:buNone/>
            </a:pPr>
            <a:r>
              <a:rPr b="1"/>
              <a:t>Change Management:</a:t>
            </a:r>
            <a:r>
              <a:rPr/>
              <a:t> - 📋 Version control (Git) - 🔖 Tagged releases - 📚 Change logs maintained - 🧪 Framework tests (testing the tests)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25: Questions &amp; Contact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Let’s Discuss Your Testing Needs</a:t>
            </a:r>
          </a:p>
          <a:p>
            <a:pPr lvl="0" indent="0" marL="0">
              <a:buNone/>
            </a:pPr>
            <a:r>
              <a:rPr b="1"/>
              <a:t>Common Questions:</a:t>
            </a:r>
            <a:r>
              <a:rPr/>
              <a:t> 1. </a:t>
            </a:r>
            <a:r>
              <a:rPr b="1"/>
              <a:t>Can we add more modules?</a:t>
            </a:r>
            <a:r>
              <a:rPr/>
              <a:t> - Yes, framework is extensible. ~2 weeks per module.</a:t>
            </a:r>
          </a:p>
          <a:p>
            <a:pPr lvl="0" indent="-342900" marL="342900">
              <a:buAutoNum startAt="2" type="arabicPeriod"/>
            </a:pPr>
            <a:r>
              <a:rPr b="1"/>
              <a:t>Can we run tests on different browsers?</a:t>
            </a:r>
          </a:p>
          <a:p>
            <a:pPr lvl="1"/>
            <a:r>
              <a:rPr/>
              <a:t>Yes, supports Chromium, Firefox, WebKit (Safari).</a:t>
            </a:r>
          </a:p>
          <a:p>
            <a:pPr lvl="0" indent="-342900" marL="342900">
              <a:buAutoNum startAt="2" type="arabicPeriod"/>
            </a:pPr>
            <a:r>
              <a:rPr b="1"/>
              <a:t>Can we schedule nightly runs?</a:t>
            </a:r>
          </a:p>
          <a:p>
            <a:pPr lvl="1"/>
            <a:r>
              <a:rPr/>
              <a:t>Yes, CI/CD integration ready.</a:t>
            </a:r>
          </a:p>
          <a:p>
            <a:pPr lvl="0" indent="-342900" marL="342900">
              <a:buAutoNum startAt="2" type="arabicPeriod"/>
            </a:pPr>
            <a:r>
              <a:rPr b="1"/>
              <a:t>What if locators change?</a:t>
            </a:r>
          </a:p>
          <a:p>
            <a:pPr lvl="1"/>
            <a:r>
              <a:rPr/>
              <a:t>Framework uses stable locators (data-id). Easy updates.</a:t>
            </a:r>
          </a:p>
          <a:p>
            <a:pPr lvl="0" indent="-342900" marL="342900">
              <a:buAutoNum startAt="2" type="arabicPeriod"/>
            </a:pPr>
            <a:r>
              <a:rPr b="1"/>
              <a:t>Can we test mobile responsiveness?</a:t>
            </a:r>
          </a:p>
          <a:p>
            <a:pPr lvl="1"/>
            <a:r>
              <a:rPr/>
              <a:t>Yes, Playwright supports mobile viewports.</a:t>
            </a:r>
          </a:p>
          <a:p>
            <a:pPr lvl="0" indent="0" marL="0">
              <a:buNone/>
            </a:pPr>
            <a:r>
              <a:rPr b="1"/>
              <a:t>Contact Information:</a:t>
            </a:r>
            <a:r>
              <a:rPr/>
              <a:t> - 📧 Email: qa-automation@company.com - 💬 Slack: #vat-dtai-automation - 📚 Documentation: </a:t>
            </a:r>
            <a:r>
              <a:rPr>
                <a:latin typeface="Courier"/>
              </a:rPr>
              <a:t>docs/</a:t>
            </a:r>
            <a:r>
              <a:rPr/>
              <a:t> folder - 🎓 Training Sessions: Monthly</a:t>
            </a:r>
          </a:p>
          <a:p>
            <a:pPr lvl="0" indent="0" marL="0">
              <a:buNone/>
            </a:pPr>
            <a:r>
              <a:rPr b="1"/>
              <a:t>Next Steps:</a:t>
            </a:r>
            <a:r>
              <a:rPr/>
              <a:t> 1. Schedule detailed demo 2. Review current coverage gaps 3. Prioritize next modules 4. Set up CI/CD integration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Appendix A: Glossary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BDD (Behavior-Driven Development):</a:t>
            </a:r>
            <a:r>
              <a:rPr/>
              <a:t> Testing approach using natural language scenarios (Given/When/Then)</a:t>
            </a:r>
          </a:p>
          <a:p>
            <a:pPr lvl="0" indent="0" marL="0">
              <a:buNone/>
            </a:pPr>
            <a:r>
              <a:rPr b="1"/>
              <a:t>Page Object Model (POM):</a:t>
            </a:r>
            <a:r>
              <a:rPr/>
              <a:t> Design pattern separating test logic from UI structure</a:t>
            </a:r>
          </a:p>
          <a:p>
            <a:pPr lvl="0" indent="0" marL="0">
              <a:buNone/>
            </a:pPr>
            <a:r>
              <a:rPr b="1"/>
              <a:t>Locator:</a:t>
            </a:r>
            <a:r>
              <a:rPr/>
              <a:t> Identifier used to find elements on a web page (buttons, inputs, tables)</a:t>
            </a:r>
          </a:p>
          <a:p>
            <a:pPr lvl="0" indent="0" marL="0">
              <a:buNone/>
            </a:pPr>
            <a:r>
              <a:rPr b="1"/>
              <a:t>ARIA Role:</a:t>
            </a:r>
            <a:r>
              <a:rPr/>
              <a:t> Accessibility attribute making web content more accessible</a:t>
            </a:r>
          </a:p>
          <a:p>
            <a:pPr lvl="0" indent="0" marL="0">
              <a:buNone/>
            </a:pPr>
            <a:r>
              <a:rPr b="1"/>
              <a:t>Allure:</a:t>
            </a:r>
            <a:r>
              <a:rPr/>
              <a:t> Open-source test reporting tool with visual dashboards</a:t>
            </a:r>
          </a:p>
          <a:p>
            <a:pPr lvl="0" indent="0" marL="0">
              <a:buNone/>
            </a:pPr>
            <a:r>
              <a:rPr b="1"/>
              <a:t>CI/CD:</a:t>
            </a:r>
            <a:r>
              <a:rPr/>
              <a:t> Continuous Integration/Continuous Deployment - automated software delivery</a:t>
            </a:r>
          </a:p>
          <a:p>
            <a:pPr lvl="0" indent="0" marL="0">
              <a:buNone/>
            </a:pPr>
            <a:r>
              <a:rPr b="1"/>
              <a:t>Regression Testing:</a:t>
            </a:r>
            <a:r>
              <a:rPr/>
              <a:t> Re-running tests to ensure new changes don’t break existing functionality</a:t>
            </a:r>
          </a:p>
          <a:p>
            <a:pPr lvl="0" indent="0" marL="0">
              <a:buNone/>
            </a:pPr>
            <a:r>
              <a:rPr b="1"/>
              <a:t>Test Coverage:</a:t>
            </a:r>
            <a:r>
              <a:rPr/>
              <a:t> Percentage of application features tested by automation</a:t>
            </a:r>
          </a:p>
          <a:p>
            <a:pPr lvl="0" indent="0" marL="0">
              <a:buNone/>
            </a:pPr>
            <a:r>
              <a:rPr b="1"/>
              <a:t>Pass Rate:</a:t>
            </a:r>
            <a:r>
              <a:rPr/>
              <a:t> Percentage of tests that successfully completed</a:t>
            </a:r>
          </a:p>
          <a:p>
            <a:pPr lvl="0" indent="0" marL="0">
              <a:buNone/>
            </a:pPr>
            <a:r>
              <a:rPr b="1"/>
              <a:t>Flaky Test:</a:t>
            </a:r>
            <a:r>
              <a:rPr/>
              <a:t> Test that intermittently passes/fails without code changes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Appendix B: Sample Test Case (Gherkin)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@TC_604822 @FileUpload @BatchProcessing
Scenario Outline: Verify successful upload of valid e-Invoice transaction report
  Given I login as Admin user
  When I select the Client from dropdown and clicked on continue button
  When I navigate to VAT DTAI application
  When I access Data Ingestion module
  When I select Source System "&lt;source_system&gt;" from dropdown
  And I choose a valid e-Invoice transaction report file "&lt;file_name&gt;"
  And I click Upload button
  Then file upload completes successfully
  And a unique Batch ID is generated
  And a new record is displayed in Batch e-Invoices table
  Examples:
    | source_system | file_name                                       |
    | Oracle        | Belgium Domestic Invoice.csv                    |
    | SAP           | Sample 2 - Belgium Reduced VAT (6%) - SAP.JSON  |
    | MS D365       | Sample 1 - Belgium Domestic (21%).xml           |</a:t>
            </a:r>
          </a:p>
          <a:p>
            <a:pPr lvl="0" indent="0" marL="0">
              <a:buNone/>
            </a:pPr>
            <a:r>
              <a:rPr b="1"/>
              <a:t>Business Value:</a:t>
            </a:r>
            <a:r>
              <a:rPr/>
              <a:t> This test ensures the core file upload functionality works correctly for all supported formats and source systems, preventing production issues.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Appendix C: Command 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Run All Tests:</a:t>
            </a:r>
          </a:p>
          <a:p>
            <a:pPr lvl="0" indent="0">
              <a:buNone/>
            </a:pPr>
            <a:r>
              <a:rPr>
                <a:latin typeface="Courier"/>
              </a:rPr>
              <a:t>pytest tests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step_defs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v </a:t>
            </a:r>
            <a:r>
              <a:rPr>
                <a:solidFill>
                  <a:srgbClr val="666666"/>
                </a:solidFill>
                <a:latin typeface="Courier"/>
              </a:rPr>
              <a:t>--</a:t>
            </a:r>
            <a:r>
              <a:rPr>
                <a:latin typeface="Courier"/>
              </a:rPr>
              <a:t>env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qa</a:t>
            </a:r>
          </a:p>
          <a:p>
            <a:pPr lvl="0" indent="0" marL="0">
              <a:buNone/>
            </a:pPr>
            <a:r>
              <a:rPr b="1"/>
              <a:t>Run Specific Module:</a:t>
            </a:r>
          </a:p>
          <a:p>
            <a:pPr lvl="0" indent="0">
              <a:buNone/>
            </a:pPr>
            <a:r>
              <a:rPr>
                <a:latin typeface="Courier"/>
              </a:rPr>
              <a:t>pytest tests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step_defs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test_user_management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py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v </a:t>
            </a:r>
            <a:r>
              <a:rPr>
                <a:solidFill>
                  <a:srgbClr val="666666"/>
                </a:solidFill>
                <a:latin typeface="Courier"/>
              </a:rPr>
              <a:t>--</a:t>
            </a:r>
            <a:r>
              <a:rPr>
                <a:latin typeface="Courier"/>
              </a:rPr>
              <a:t>env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qa</a:t>
            </a:r>
          </a:p>
          <a:p>
            <a:pPr lvl="0" indent="0" marL="0">
              <a:buNone/>
            </a:pPr>
            <a:r>
              <a:rPr b="1"/>
              <a:t>Run Tests by Tag:</a:t>
            </a:r>
          </a:p>
          <a:p>
            <a:pPr lvl="0" indent="0">
              <a:buNone/>
            </a:pPr>
            <a:r>
              <a:rPr>
                <a:latin typeface="Courier"/>
              </a:rPr>
              <a:t>pytest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m </a:t>
            </a:r>
            <a:r>
              <a:rPr>
                <a:solidFill>
                  <a:srgbClr val="4070A0"/>
                </a:solidFill>
                <a:latin typeface="Courier"/>
              </a:rPr>
              <a:t>"FileUpload and P1"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v </a:t>
            </a:r>
            <a:r>
              <a:rPr>
                <a:solidFill>
                  <a:srgbClr val="666666"/>
                </a:solidFill>
                <a:latin typeface="Courier"/>
              </a:rPr>
              <a:t>--</a:t>
            </a:r>
            <a:r>
              <a:rPr>
                <a:latin typeface="Courier"/>
              </a:rPr>
              <a:t>env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qa</a:t>
            </a:r>
          </a:p>
          <a:p>
            <a:pPr lvl="0" indent="0" marL="0">
              <a:buNone/>
            </a:pPr>
            <a:r>
              <a:rPr b="1"/>
              <a:t>Run with Visual Mode:</a:t>
            </a:r>
          </a:p>
          <a:p>
            <a:pPr lvl="0" indent="0">
              <a:buNone/>
            </a:pPr>
            <a:r>
              <a:rPr>
                <a:latin typeface="Courier"/>
              </a:rPr>
              <a:t>pytest </a:t>
            </a:r>
            <a:r>
              <a:rPr>
                <a:solidFill>
                  <a:srgbClr val="666666"/>
                </a:solidFill>
                <a:latin typeface="Courier"/>
              </a:rPr>
              <a:t>--</a:t>
            </a:r>
            <a:r>
              <a:rPr>
                <a:latin typeface="Courier"/>
              </a:rPr>
              <a:t>headed </a:t>
            </a:r>
            <a:r>
              <a:rPr>
                <a:solidFill>
                  <a:srgbClr val="666666"/>
                </a:solidFill>
                <a:latin typeface="Courier"/>
              </a:rPr>
              <a:t>--</a:t>
            </a:r>
            <a:r>
              <a:rPr>
                <a:latin typeface="Courier"/>
              </a:rPr>
              <a:t>slowmo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1000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v </a:t>
            </a:r>
            <a:r>
              <a:rPr>
                <a:solidFill>
                  <a:srgbClr val="666666"/>
                </a:solidFill>
                <a:latin typeface="Courier"/>
              </a:rPr>
              <a:t>--</a:t>
            </a:r>
            <a:r>
              <a:rPr>
                <a:latin typeface="Courier"/>
              </a:rPr>
              <a:t>env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qa</a:t>
            </a:r>
          </a:p>
          <a:p>
            <a:pPr lvl="0" indent="0" marL="0">
              <a:buNone/>
            </a:pPr>
            <a:r>
              <a:rPr b="1"/>
              <a:t>Generate HTML Report:</a:t>
            </a:r>
          </a:p>
          <a:p>
            <a:pPr lvl="0" indent="0">
              <a:buNone/>
            </a:pPr>
            <a:r>
              <a:rPr>
                <a:latin typeface="Courier"/>
              </a:rPr>
              <a:t>pytest </a:t>
            </a:r>
            <a:r>
              <a:rPr>
                <a:solidFill>
                  <a:srgbClr val="666666"/>
                </a:solidFill>
                <a:latin typeface="Courier"/>
              </a:rPr>
              <a:t>--</a:t>
            </a:r>
            <a:r>
              <a:rPr>
                <a:latin typeface="Courier"/>
              </a:rPr>
              <a:t>html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reports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report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html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--</a:t>
            </a:r>
            <a:r>
              <a:rPr>
                <a:latin typeface="Courier"/>
              </a:rPr>
              <a:t>self-contained-html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v </a:t>
            </a:r>
            <a:r>
              <a:rPr>
                <a:solidFill>
                  <a:srgbClr val="666666"/>
                </a:solidFill>
                <a:latin typeface="Courier"/>
              </a:rPr>
              <a:t>--</a:t>
            </a:r>
            <a:r>
              <a:rPr>
                <a:latin typeface="Courier"/>
              </a:rPr>
              <a:t>env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qa</a:t>
            </a:r>
          </a:p>
          <a:p>
            <a:pPr lvl="0" indent="0" marL="0">
              <a:buNone/>
            </a:pPr>
            <a:r>
              <a:rPr b="1"/>
              <a:t>View Allure Report:</a:t>
            </a:r>
          </a:p>
          <a:p>
            <a:pPr lvl="0" indent="0">
              <a:buNone/>
            </a:pPr>
            <a:r>
              <a:rPr>
                <a:latin typeface="Courier"/>
              </a:rPr>
              <a:t>allure serve reports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allure-results</a:t>
            </a:r>
          </a:p>
          <a:p>
            <a:pPr lvl="0" indent="0" marL="0">
              <a:buNone/>
            </a:pPr>
            <a:r>
              <a:rPr b="1"/>
              <a:t>Run Parallel Tests:</a:t>
            </a:r>
          </a:p>
          <a:p>
            <a:pPr lvl="0" indent="0">
              <a:buNone/>
            </a:pPr>
            <a:r>
              <a:rPr>
                <a:latin typeface="Courier"/>
              </a:rPr>
              <a:t>pytest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n 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v </a:t>
            </a:r>
            <a:r>
              <a:rPr>
                <a:solidFill>
                  <a:srgbClr val="666666"/>
                </a:solidFill>
                <a:latin typeface="Courier"/>
              </a:rPr>
              <a:t>--</a:t>
            </a:r>
            <a:r>
              <a:rPr>
                <a:latin typeface="Courier"/>
              </a:rPr>
              <a:t>env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qa  </a:t>
            </a:r>
            <a:r>
              <a:rPr i="1">
                <a:solidFill>
                  <a:srgbClr val="60A0B0"/>
                </a:solidFill>
                <a:latin typeface="Courier"/>
              </a:rPr>
              <a:t># 4 parallel workers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END OF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Thank you for your time!</a:t>
            </a:r>
          </a:p>
          <a:p>
            <a:pPr lvl="0" indent="0" marL="0">
              <a:buNone/>
            </a:pPr>
            <a:r>
              <a:rPr/>
              <a:t>For questions or demo requests, please contact the QA Automation Team.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Document Version:</a:t>
            </a:r>
            <a:r>
              <a:rPr/>
              <a:t> 1.0 </a:t>
            </a:r>
            <a:r>
              <a:rPr b="1"/>
              <a:t>Last Updated:</a:t>
            </a:r>
            <a:r>
              <a:rPr/>
              <a:t> May 8, 2026 </a:t>
            </a:r>
            <a:r>
              <a:rPr b="1"/>
              <a:t>Prepared For:</a:t>
            </a:r>
            <a:r>
              <a:rPr/>
              <a:t> Business Stakeholders </a:t>
            </a:r>
            <a:r>
              <a:rPr b="1"/>
              <a:t>Framework Version:</a:t>
            </a:r>
            <a:r>
              <a:rPr/>
              <a:t> 1.0.0 </a:t>
            </a:r>
            <a:r>
              <a:rPr b="1"/>
              <a:t>Test Coverage:</a:t>
            </a:r>
            <a:r>
              <a:rPr/>
              <a:t> 34 scenarios (User Management: 17, DTAI Tile: 3, Data Ingestion: 14)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2026-05-08T15:47:29Z</dcterms:created>
  <dcterms:modified xsi:type="dcterms:W3CDTF">2026-05-08T15:47:29Z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